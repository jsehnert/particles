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Lst>
  <p:sldSz cy="6858000" cx="12192000"/>
  <p:notesSz cx="6858000" cy="12192000"/>
  <p:embeddedFontLst>
    <p:embeddedFont>
      <p:font typeface="Century Schoolbook"/>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font" Target="fonts/CenturySchoolbook-italic.fntdata"/><Relationship Id="rId10" Type="http://schemas.openxmlformats.org/officeDocument/2006/relationships/font" Target="fonts/CenturySchoolbook-bold.fntdata"/><Relationship Id="rId12" Type="http://schemas.openxmlformats.org/officeDocument/2006/relationships/font" Target="fonts/CenturySchoolbook-boldItalic.fntdata"/><Relationship Id="rId9" Type="http://schemas.openxmlformats.org/officeDocument/2006/relationships/font" Target="fonts/CenturySchoolbook-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key idea: rather than detecting particles in the raw reconstructed volume — where the cell's winding and wall structure dominates — we subtract a model of that expected structure to form a residual. In the residual, predictable structure cancels and only anomalies survive, appearing as positive signal-to-noise peaks over a near-zero-mean background. This reframes a hard needle-in-clutter problem as a much simpler 'find bright peaks in noise' problem.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candidate-extraction pipeline, at a high level, operating on a single residual volume: per-voxel noise (sigma) is estimated on a pre-cell basis, independent of cell content, and normalizes the residual into a signal-to-noise ratio; a strict core threshold and a generous skirt threshold are applied; each confident core is grown into its skirt to capture the full particle; and features — size, shape, intensity and related descriptors — are extracted from each grown particle for downstream scoring and classification. The governing principle throughout is 'detect strict, measure generous.'</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Optional supporting visual. Left: a reconstructed slice dominated by the jelly-roll winding structure, with a few faint high-Z particles. Middle: a smooth model of that expected structure. Right: the residual — data minus model — where the structure has cancelled and the particles stand out as bright, isolated peaks. The profile beneath, taken along the dashed line, shows the reconstructed signal tracking the structural model everywhere except at the particle, while the residual stays flat near zero and rises into a clean peak above the detection threshold. This is a synthetic illustration of the concept, not measured data.</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real radial slice through the cell, shown as original, modeled structure, and residual. In the original slice the winding rings dominate and a genuine particle (circled) sits right against the bright electrode edge, hard to distinguish. The structural model captures the smooth rings and edge. Subtracting it leaves the residual, where the winding structure is gone and the particle stands out as a clear bright point at the same location; the other faint specks are additional candidates and noise. This is the same detect-on-the-residual principle from the schematic, now on measured data.</a:t>
            </a:r>
            <a:endParaRPr/>
          </a:p>
        </p:txBody>
      </p:sp>
      <p:sp>
        <p:nvSpPr>
          <p:cNvPr id="78" name="Google Shape;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626"/>
        </a:solidFill>
      </p:bgPr>
    </p:bg>
    <p:spTree>
      <p:nvGrpSpPr>
        <p:cNvPr id="15" name="Shape 15"/>
        <p:cNvGrpSpPr/>
        <p:nvPr/>
      </p:nvGrpSpPr>
      <p:grpSpPr>
        <a:xfrm>
          <a:off x="0" y="0"/>
          <a:ext cx="0" cy="0"/>
          <a:chOff x="0" y="0"/>
          <a:chExt cx="0" cy="0"/>
        </a:xfrm>
      </p:grpSpPr>
      <p:sp>
        <p:nvSpPr>
          <p:cNvPr id="16" name="Google Shape;16;p3"/>
          <p:cNvSpPr/>
          <p:nvPr/>
        </p:nvSpPr>
        <p:spPr>
          <a:xfrm>
            <a:off x="548640" y="384048"/>
            <a:ext cx="1109167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3200"/>
              <a:buFont typeface="Century Schoolbook"/>
              <a:buNone/>
            </a:pPr>
            <a:r>
              <a:rPr b="1" i="0" lang="en-US" sz="3200" u="none" cap="none" strike="noStrike">
                <a:solidFill>
                  <a:srgbClr val="EAF1F8"/>
                </a:solidFill>
                <a:latin typeface="Century Schoolbook"/>
                <a:ea typeface="Century Schoolbook"/>
                <a:cs typeface="Century Schoolbook"/>
                <a:sym typeface="Century Schoolbook"/>
              </a:rPr>
              <a:t>Detecting Particles on the Residual</a:t>
            </a:r>
            <a:endParaRPr b="0" i="0" sz="3200" u="none" cap="none" strike="noStrike">
              <a:solidFill>
                <a:schemeClr val="dk1"/>
              </a:solidFill>
              <a:latin typeface="Calibri"/>
              <a:ea typeface="Calibri"/>
              <a:cs typeface="Calibri"/>
              <a:sym typeface="Calibri"/>
            </a:endParaRPr>
          </a:p>
        </p:txBody>
      </p:sp>
      <p:sp>
        <p:nvSpPr>
          <p:cNvPr id="17" name="Google Shape;17;p3"/>
          <p:cNvSpPr/>
          <p:nvPr/>
        </p:nvSpPr>
        <p:spPr>
          <a:xfrm>
            <a:off x="548640" y="932688"/>
            <a:ext cx="110916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alibri"/>
              <a:buNone/>
            </a:pPr>
            <a:r>
              <a:rPr b="0" i="0" lang="en-US" sz="1500" u="none" cap="none" strike="noStrike">
                <a:solidFill>
                  <a:srgbClr val="35D6C2"/>
                </a:solidFill>
                <a:latin typeface="Calibri"/>
                <a:ea typeface="Calibri"/>
                <a:cs typeface="Calibri"/>
                <a:sym typeface="Calibri"/>
              </a:rPr>
              <a:t>Turning a needle-in-clutter search into finding bright peaks in noise</a:t>
            </a:r>
            <a:endParaRPr b="0" i="0" sz="1500" u="none" cap="none" strike="noStrike">
              <a:solidFill>
                <a:schemeClr val="dk1"/>
              </a:solidFill>
              <a:latin typeface="Calibri"/>
              <a:ea typeface="Calibri"/>
              <a:cs typeface="Calibri"/>
              <a:sym typeface="Calibri"/>
            </a:endParaRPr>
          </a:p>
        </p:txBody>
      </p:sp>
      <p:sp>
        <p:nvSpPr>
          <p:cNvPr id="18" name="Google Shape;18;p3"/>
          <p:cNvSpPr/>
          <p:nvPr/>
        </p:nvSpPr>
        <p:spPr>
          <a:xfrm>
            <a:off x="548640" y="1481328"/>
            <a:ext cx="11091672" cy="54864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9BB1C7"/>
              </a:buClr>
              <a:buSzPts val="1700"/>
              <a:buFont typeface="Calibri"/>
              <a:buNone/>
            </a:pPr>
            <a:r>
              <a:rPr b="0" i="0" lang="en-US" sz="1700" u="none" cap="none" strike="noStrike">
                <a:solidFill>
                  <a:srgbClr val="9BB1C7"/>
                </a:solidFill>
                <a:latin typeface="Calibri"/>
                <a:ea typeface="Calibri"/>
                <a:cs typeface="Calibri"/>
                <a:sym typeface="Calibri"/>
              </a:rPr>
              <a:t>A micro-CT scan of a cell is dominated by the cell's own structure. We don't search it directly — </a:t>
            </a:r>
            <a:r>
              <a:rPr b="1" i="0" lang="en-US" sz="1700" u="none" cap="none" strike="noStrike">
                <a:solidFill>
                  <a:srgbClr val="EAF1F8"/>
                </a:solidFill>
                <a:latin typeface="Calibri"/>
                <a:ea typeface="Calibri"/>
                <a:cs typeface="Calibri"/>
                <a:sym typeface="Calibri"/>
              </a:rPr>
              <a:t>we search the residual.</a:t>
            </a:r>
            <a:endParaRPr b="0" i="0" sz="1700" u="none" cap="none" strike="noStrike">
              <a:solidFill>
                <a:schemeClr val="dk1"/>
              </a:solidFill>
              <a:latin typeface="Calibri"/>
              <a:ea typeface="Calibri"/>
              <a:cs typeface="Calibri"/>
              <a:sym typeface="Calibri"/>
            </a:endParaRPr>
          </a:p>
        </p:txBody>
      </p:sp>
      <p:sp>
        <p:nvSpPr>
          <p:cNvPr id="19" name="Google Shape;19;p3"/>
          <p:cNvSpPr/>
          <p:nvPr/>
        </p:nvSpPr>
        <p:spPr>
          <a:xfrm>
            <a:off x="548640" y="2240280"/>
            <a:ext cx="3361944" cy="2788920"/>
          </a:xfrm>
          <a:prstGeom prst="roundRect">
            <a:avLst>
              <a:gd fmla="val 2951"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22960" y="2532888"/>
            <a:ext cx="548640" cy="548640"/>
          </a:xfrm>
          <a:prstGeom prst="ellipse">
            <a:avLst/>
          </a:prstGeom>
          <a:solidFill>
            <a:srgbClr val="17324F"/>
          </a:solidFill>
          <a:ln cap="flat" cmpd="sng" w="19050">
            <a:solidFill>
              <a:srgbClr val="F2B44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22960" y="2532888"/>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2B441"/>
              </a:buClr>
              <a:buSzPts val="1500"/>
              <a:buFont typeface="Century Schoolbook"/>
              <a:buNone/>
            </a:pPr>
            <a:r>
              <a:rPr b="1" i="0" lang="en-US" sz="1500" u="none" cap="none" strike="noStrike">
                <a:solidFill>
                  <a:srgbClr val="F2B441"/>
                </a:solidFill>
                <a:latin typeface="Century Schoolbook"/>
                <a:ea typeface="Century Schoolbook"/>
                <a:cs typeface="Century Schoolbook"/>
                <a:sym typeface="Century Schoolbook"/>
              </a:rPr>
              <a:t>1</a:t>
            </a:r>
            <a:endParaRPr b="0" i="0" sz="1500" u="none" cap="none" strike="noStrike">
              <a:solidFill>
                <a:schemeClr val="dk1"/>
              </a:solidFill>
              <a:latin typeface="Calibri"/>
              <a:ea typeface="Calibri"/>
              <a:cs typeface="Calibri"/>
              <a:sym typeface="Calibri"/>
            </a:endParaRPr>
          </a:p>
        </p:txBody>
      </p:sp>
      <p:sp>
        <p:nvSpPr>
          <p:cNvPr id="22" name="Google Shape;22;p3"/>
          <p:cNvSpPr/>
          <p:nvPr/>
        </p:nvSpPr>
        <p:spPr>
          <a:xfrm>
            <a:off x="822960" y="3172968"/>
            <a:ext cx="28133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800"/>
              <a:buFont typeface="Century Schoolbook"/>
              <a:buNone/>
            </a:pPr>
            <a:r>
              <a:rPr b="1" i="0" lang="en-US" sz="1800" u="none" cap="none" strike="noStrike">
                <a:solidFill>
                  <a:srgbClr val="EAF1F8"/>
                </a:solidFill>
                <a:latin typeface="Century Schoolbook"/>
                <a:ea typeface="Century Schoolbook"/>
                <a:cs typeface="Century Schoolbook"/>
                <a:sym typeface="Century Schoolbook"/>
              </a:rPr>
              <a:t>The clutter</a:t>
            </a:r>
            <a:endParaRPr b="0" i="0" sz="1800" u="none" cap="none" strike="noStrike">
              <a:solidFill>
                <a:schemeClr val="dk1"/>
              </a:solidFill>
              <a:latin typeface="Calibri"/>
              <a:ea typeface="Calibri"/>
              <a:cs typeface="Calibri"/>
              <a:sym typeface="Calibri"/>
            </a:endParaRPr>
          </a:p>
        </p:txBody>
      </p:sp>
      <p:sp>
        <p:nvSpPr>
          <p:cNvPr id="23" name="Google Shape;23;p3"/>
          <p:cNvSpPr/>
          <p:nvPr/>
        </p:nvSpPr>
        <p:spPr>
          <a:xfrm>
            <a:off x="822960" y="3685032"/>
            <a:ext cx="2813304" cy="1234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350"/>
              <a:buFont typeface="Calibri"/>
              <a:buNone/>
            </a:pPr>
            <a:r>
              <a:rPr b="0" i="0" lang="en-US" sz="1350" u="none" cap="none" strike="noStrike">
                <a:solidFill>
                  <a:srgbClr val="9BB1C7"/>
                </a:solidFill>
                <a:latin typeface="Calibri"/>
                <a:ea typeface="Calibri"/>
                <a:cs typeface="Calibri"/>
                <a:sym typeface="Calibri"/>
              </a:rPr>
              <a:t>Windings and walls dominate every slice. Genuine high-Z particles are tiny and rare — easily lost in that structure.</a:t>
            </a:r>
            <a:endParaRPr b="0" i="0" sz="1350" u="none" cap="none" strike="noStrike">
              <a:solidFill>
                <a:schemeClr val="dk1"/>
              </a:solidFill>
              <a:latin typeface="Calibri"/>
              <a:ea typeface="Calibri"/>
              <a:cs typeface="Calibri"/>
              <a:sym typeface="Calibri"/>
            </a:endParaRPr>
          </a:p>
        </p:txBody>
      </p:sp>
      <p:sp>
        <p:nvSpPr>
          <p:cNvPr id="24" name="Google Shape;24;p3"/>
          <p:cNvSpPr/>
          <p:nvPr/>
        </p:nvSpPr>
        <p:spPr>
          <a:xfrm>
            <a:off x="4413504" y="2240280"/>
            <a:ext cx="3361944" cy="2788920"/>
          </a:xfrm>
          <a:prstGeom prst="roundRect">
            <a:avLst>
              <a:gd fmla="val 2951"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4687824" y="2532888"/>
            <a:ext cx="548640" cy="548640"/>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a:off x="4687824" y="2532888"/>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2</a:t>
            </a:r>
            <a:endParaRPr b="0" i="0" sz="1500" u="none" cap="none" strike="noStrike">
              <a:solidFill>
                <a:schemeClr val="dk1"/>
              </a:solidFill>
              <a:latin typeface="Calibri"/>
              <a:ea typeface="Calibri"/>
              <a:cs typeface="Calibri"/>
              <a:sym typeface="Calibri"/>
            </a:endParaRPr>
          </a:p>
        </p:txBody>
      </p:sp>
      <p:sp>
        <p:nvSpPr>
          <p:cNvPr id="27" name="Google Shape;27;p3"/>
          <p:cNvSpPr/>
          <p:nvPr/>
        </p:nvSpPr>
        <p:spPr>
          <a:xfrm>
            <a:off x="4687824" y="3172968"/>
            <a:ext cx="28133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800"/>
              <a:buFont typeface="Century Schoolbook"/>
              <a:buNone/>
            </a:pPr>
            <a:r>
              <a:rPr b="1" i="0" lang="en-US" sz="1800" u="none" cap="none" strike="noStrike">
                <a:solidFill>
                  <a:srgbClr val="EAF1F8"/>
                </a:solidFill>
                <a:latin typeface="Century Schoolbook"/>
                <a:ea typeface="Century Schoolbook"/>
                <a:cs typeface="Century Schoolbook"/>
                <a:sym typeface="Century Schoolbook"/>
              </a:rPr>
              <a:t>Subtract the model</a:t>
            </a:r>
            <a:endParaRPr b="0" i="0" sz="1800" u="none" cap="none" strike="noStrike">
              <a:solidFill>
                <a:schemeClr val="dk1"/>
              </a:solidFill>
              <a:latin typeface="Calibri"/>
              <a:ea typeface="Calibri"/>
              <a:cs typeface="Calibri"/>
              <a:sym typeface="Calibri"/>
            </a:endParaRPr>
          </a:p>
        </p:txBody>
      </p:sp>
      <p:sp>
        <p:nvSpPr>
          <p:cNvPr id="28" name="Google Shape;28;p3"/>
          <p:cNvSpPr/>
          <p:nvPr/>
        </p:nvSpPr>
        <p:spPr>
          <a:xfrm>
            <a:off x="4687824" y="3685032"/>
            <a:ext cx="2813304" cy="1234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350"/>
              <a:buFont typeface="Calibri"/>
              <a:buNone/>
            </a:pPr>
            <a:r>
              <a:rPr b="0" i="0" lang="en-US" sz="1350" u="none" cap="none" strike="noStrike">
                <a:solidFill>
                  <a:srgbClr val="9BB1C7"/>
                </a:solidFill>
                <a:latin typeface="Calibri"/>
                <a:ea typeface="Calibri"/>
                <a:cs typeface="Calibri"/>
                <a:sym typeface="Calibri"/>
              </a:rPr>
              <a:t>Form the residual: reconstructed volume minus a model of the expected structure. Predictable structure cancels out.</a:t>
            </a:r>
            <a:endParaRPr b="0" i="0" sz="1350" u="none" cap="none" strike="noStrike">
              <a:solidFill>
                <a:schemeClr val="dk1"/>
              </a:solidFill>
              <a:latin typeface="Calibri"/>
              <a:ea typeface="Calibri"/>
              <a:cs typeface="Calibri"/>
              <a:sym typeface="Calibri"/>
            </a:endParaRPr>
          </a:p>
        </p:txBody>
      </p:sp>
      <p:sp>
        <p:nvSpPr>
          <p:cNvPr id="29" name="Google Shape;29;p3"/>
          <p:cNvSpPr/>
          <p:nvPr/>
        </p:nvSpPr>
        <p:spPr>
          <a:xfrm>
            <a:off x="8278368" y="2240280"/>
            <a:ext cx="3361944" cy="2788920"/>
          </a:xfrm>
          <a:prstGeom prst="roundRect">
            <a:avLst>
              <a:gd fmla="val 2951"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a:off x="8552688" y="2532888"/>
            <a:ext cx="548640" cy="548640"/>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8552688" y="2532888"/>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3</a:t>
            </a:r>
            <a:endParaRPr b="0" i="0" sz="1500" u="none" cap="none" strike="noStrike">
              <a:solidFill>
                <a:schemeClr val="dk1"/>
              </a:solidFill>
              <a:latin typeface="Calibri"/>
              <a:ea typeface="Calibri"/>
              <a:cs typeface="Calibri"/>
              <a:sym typeface="Calibri"/>
            </a:endParaRPr>
          </a:p>
        </p:txBody>
      </p:sp>
      <p:sp>
        <p:nvSpPr>
          <p:cNvPr id="32" name="Google Shape;32;p3"/>
          <p:cNvSpPr/>
          <p:nvPr/>
        </p:nvSpPr>
        <p:spPr>
          <a:xfrm>
            <a:off x="8552688" y="3172968"/>
            <a:ext cx="2813304"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800"/>
              <a:buFont typeface="Century Schoolbook"/>
              <a:buNone/>
            </a:pPr>
            <a:r>
              <a:rPr b="1" i="0" lang="en-US" sz="1800" u="none" cap="none" strike="noStrike">
                <a:solidFill>
                  <a:srgbClr val="EAF1F8"/>
                </a:solidFill>
                <a:latin typeface="Century Schoolbook"/>
                <a:ea typeface="Century Schoolbook"/>
                <a:cs typeface="Century Schoolbook"/>
                <a:sym typeface="Century Schoolbook"/>
              </a:rPr>
              <a:t>Anomalies isolated</a:t>
            </a:r>
            <a:endParaRPr b="0" i="0" sz="1800" u="none" cap="none" strike="noStrike">
              <a:solidFill>
                <a:schemeClr val="dk1"/>
              </a:solidFill>
              <a:latin typeface="Calibri"/>
              <a:ea typeface="Calibri"/>
              <a:cs typeface="Calibri"/>
              <a:sym typeface="Calibri"/>
            </a:endParaRPr>
          </a:p>
        </p:txBody>
      </p:sp>
      <p:sp>
        <p:nvSpPr>
          <p:cNvPr id="33" name="Google Shape;33;p3"/>
          <p:cNvSpPr/>
          <p:nvPr/>
        </p:nvSpPr>
        <p:spPr>
          <a:xfrm>
            <a:off x="8552688" y="3685032"/>
            <a:ext cx="2813304" cy="12344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350"/>
              <a:buFont typeface="Calibri"/>
              <a:buNone/>
            </a:pPr>
            <a:r>
              <a:rPr b="0" i="0" lang="en-US" sz="1350" u="none" cap="none" strike="noStrike">
                <a:solidFill>
                  <a:srgbClr val="9BB1C7"/>
                </a:solidFill>
                <a:latin typeface="Calibri"/>
                <a:ea typeface="Calibri"/>
                <a:cs typeface="Calibri"/>
                <a:sym typeface="Calibri"/>
              </a:rPr>
              <a:t>What survives are the departures — particles standing out as positive signal-to-noise peaks over near-zero background.</a:t>
            </a:r>
            <a:endParaRPr b="0" i="0" sz="1350" u="none" cap="none" strike="noStrike">
              <a:solidFill>
                <a:schemeClr val="dk1"/>
              </a:solidFill>
              <a:latin typeface="Calibri"/>
              <a:ea typeface="Calibri"/>
              <a:cs typeface="Calibri"/>
              <a:sym typeface="Calibri"/>
            </a:endParaRPr>
          </a:p>
        </p:txBody>
      </p:sp>
      <p:sp>
        <p:nvSpPr>
          <p:cNvPr id="34" name="Google Shape;34;p3"/>
          <p:cNvSpPr/>
          <p:nvPr/>
        </p:nvSpPr>
        <p:spPr>
          <a:xfrm>
            <a:off x="3910584" y="2240280"/>
            <a:ext cx="502920" cy="2788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F1F8"/>
              </a:buClr>
              <a:buSzPts val="3000"/>
              <a:buFont typeface="Century Schoolbook"/>
              <a:buNone/>
            </a:pPr>
            <a:r>
              <a:rPr b="1" i="0" lang="en-US" sz="3000" u="none" cap="none" strike="noStrike">
                <a:solidFill>
                  <a:srgbClr val="EAF1F8"/>
                </a:solidFill>
                <a:latin typeface="Century Schoolbook"/>
                <a:ea typeface="Century Schoolbook"/>
                <a:cs typeface="Century Schoolbook"/>
                <a:sym typeface="Century Schoolbook"/>
              </a:rPr>
              <a:t>−</a:t>
            </a:r>
            <a:endParaRPr b="0" i="0" sz="3000" u="none" cap="none" strike="noStrike">
              <a:solidFill>
                <a:schemeClr val="dk1"/>
              </a:solidFill>
              <a:latin typeface="Calibri"/>
              <a:ea typeface="Calibri"/>
              <a:cs typeface="Calibri"/>
              <a:sym typeface="Calibri"/>
            </a:endParaRPr>
          </a:p>
        </p:txBody>
      </p:sp>
      <p:sp>
        <p:nvSpPr>
          <p:cNvPr id="35" name="Google Shape;35;p3"/>
          <p:cNvSpPr/>
          <p:nvPr/>
        </p:nvSpPr>
        <p:spPr>
          <a:xfrm>
            <a:off x="7775448" y="2240280"/>
            <a:ext cx="502920" cy="2788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3000"/>
              <a:buFont typeface="Century Schoolbook"/>
              <a:buNone/>
            </a:pPr>
            <a:r>
              <a:rPr b="1" i="0" lang="en-US" sz="3000" u="none" cap="none" strike="noStrike">
                <a:solidFill>
                  <a:srgbClr val="35D6C2"/>
                </a:solidFill>
                <a:latin typeface="Century Schoolbook"/>
                <a:ea typeface="Century Schoolbook"/>
                <a:cs typeface="Century Schoolbook"/>
                <a:sym typeface="Century Schoolbook"/>
              </a:rPr>
              <a:t>=</a:t>
            </a:r>
            <a:endParaRPr b="0" i="0" sz="3000" u="none" cap="none" strike="noStrike">
              <a:solidFill>
                <a:schemeClr val="dk1"/>
              </a:solidFill>
              <a:latin typeface="Calibri"/>
              <a:ea typeface="Calibri"/>
              <a:cs typeface="Calibri"/>
              <a:sym typeface="Calibri"/>
            </a:endParaRPr>
          </a:p>
        </p:txBody>
      </p:sp>
      <p:sp>
        <p:nvSpPr>
          <p:cNvPr id="36" name="Google Shape;36;p3"/>
          <p:cNvSpPr/>
          <p:nvPr/>
        </p:nvSpPr>
        <p:spPr>
          <a:xfrm>
            <a:off x="548640" y="5349240"/>
            <a:ext cx="11091672" cy="749808"/>
          </a:xfrm>
          <a:prstGeom prst="roundRect">
            <a:avLst>
              <a:gd fmla="val 9756" name="adj"/>
            </a:avLst>
          </a:prstGeom>
          <a:solidFill>
            <a:srgbClr val="17324F"/>
          </a:solidFill>
          <a:ln cap="flat" cmpd="sng" w="12700">
            <a:solidFill>
              <a:srgbClr val="1E9E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a:off x="868680" y="5349240"/>
            <a:ext cx="10451592"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5D6C2"/>
              </a:buClr>
              <a:buSzPts val="1500"/>
              <a:buFont typeface="Calibri"/>
              <a:buNone/>
            </a:pPr>
            <a:r>
              <a:rPr b="1" i="0" lang="en-US" sz="1500" u="none" cap="none" strike="noStrike">
                <a:solidFill>
                  <a:srgbClr val="35D6C2"/>
                </a:solidFill>
                <a:latin typeface="Calibri"/>
                <a:ea typeface="Calibri"/>
                <a:cs typeface="Calibri"/>
                <a:sym typeface="Calibri"/>
              </a:rPr>
              <a:t>Why it matters:   </a:t>
            </a:r>
            <a:r>
              <a:rPr b="0" i="0" lang="en-US" sz="1500" u="none" cap="none" strike="noStrike">
                <a:solidFill>
                  <a:srgbClr val="EAF1F8"/>
                </a:solidFill>
                <a:latin typeface="Calibri"/>
                <a:ea typeface="Calibri"/>
                <a:cs typeface="Calibri"/>
                <a:sym typeface="Calibri"/>
              </a:rPr>
              <a:t>the residual is zero-mean noise, so a true particle is an unambiguous positive peak — the foundation everything downstream relies on.</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626"/>
        </a:solidFill>
      </p:bgPr>
    </p:bg>
    <p:spTree>
      <p:nvGrpSpPr>
        <p:cNvPr id="42" name="Shape 42"/>
        <p:cNvGrpSpPr/>
        <p:nvPr/>
      </p:nvGrpSpPr>
      <p:grpSpPr>
        <a:xfrm>
          <a:off x="0" y="0"/>
          <a:ext cx="0" cy="0"/>
          <a:chOff x="0" y="0"/>
          <a:chExt cx="0" cy="0"/>
        </a:xfrm>
      </p:grpSpPr>
      <p:sp>
        <p:nvSpPr>
          <p:cNvPr id="43" name="Google Shape;43;p4"/>
          <p:cNvSpPr/>
          <p:nvPr/>
        </p:nvSpPr>
        <p:spPr>
          <a:xfrm>
            <a:off x="548640" y="384048"/>
            <a:ext cx="1109167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3200"/>
              <a:buFont typeface="Century Schoolbook"/>
              <a:buNone/>
            </a:pPr>
            <a:r>
              <a:rPr b="1" i="0" lang="en-US" sz="3200" u="none" cap="none" strike="noStrike">
                <a:solidFill>
                  <a:srgbClr val="EAF1F8"/>
                </a:solidFill>
                <a:latin typeface="Century Schoolbook"/>
                <a:ea typeface="Century Schoolbook"/>
                <a:cs typeface="Century Schoolbook"/>
                <a:sym typeface="Century Schoolbook"/>
              </a:rPr>
              <a:t>Extracting Candidate Particles</a:t>
            </a:r>
            <a:endParaRPr b="0" i="0" sz="3200" u="none" cap="none" strike="noStrike">
              <a:solidFill>
                <a:schemeClr val="dk1"/>
              </a:solidFill>
              <a:latin typeface="Calibri"/>
              <a:ea typeface="Calibri"/>
              <a:cs typeface="Calibri"/>
              <a:sym typeface="Calibri"/>
            </a:endParaRPr>
          </a:p>
        </p:txBody>
      </p:sp>
      <p:sp>
        <p:nvSpPr>
          <p:cNvPr id="44" name="Google Shape;44;p4"/>
          <p:cNvSpPr/>
          <p:nvPr/>
        </p:nvSpPr>
        <p:spPr>
          <a:xfrm>
            <a:off x="548640" y="932688"/>
            <a:ext cx="110916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alibri"/>
              <a:buNone/>
            </a:pPr>
            <a:r>
              <a:rPr b="0" i="0" lang="en-US" sz="1500" u="none" cap="none" strike="noStrike">
                <a:solidFill>
                  <a:srgbClr val="35D6C2"/>
                </a:solidFill>
                <a:latin typeface="Calibri"/>
                <a:ea typeface="Calibri"/>
                <a:cs typeface="Calibri"/>
                <a:sym typeface="Calibri"/>
              </a:rPr>
              <a:t>How the volume analysis turns the residual into a list of candidates</a:t>
            </a:r>
            <a:endParaRPr b="0" i="0" sz="1500" u="none" cap="none" strike="noStrike">
              <a:solidFill>
                <a:schemeClr val="dk1"/>
              </a:solidFill>
              <a:latin typeface="Calibri"/>
              <a:ea typeface="Calibri"/>
              <a:cs typeface="Calibri"/>
              <a:sym typeface="Calibri"/>
            </a:endParaRPr>
          </a:p>
        </p:txBody>
      </p:sp>
      <p:sp>
        <p:nvSpPr>
          <p:cNvPr id="45" name="Google Shape;45;p4"/>
          <p:cNvSpPr/>
          <p:nvPr/>
        </p:nvSpPr>
        <p:spPr>
          <a:xfrm>
            <a:off x="548640" y="1572768"/>
            <a:ext cx="5317236" cy="1965960"/>
          </a:xfrm>
          <a:prstGeom prst="roundRect">
            <a:avLst>
              <a:gd fmla="val 4186"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859536" y="1883664"/>
            <a:ext cx="603504" cy="603504"/>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859536" y="1883664"/>
            <a:ext cx="603504"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1</a:t>
            </a:r>
            <a:endParaRPr b="0" i="0" sz="1500" u="none" cap="none" strike="noStrike">
              <a:solidFill>
                <a:schemeClr val="dk1"/>
              </a:solidFill>
              <a:latin typeface="Calibri"/>
              <a:ea typeface="Calibri"/>
              <a:cs typeface="Calibri"/>
              <a:sym typeface="Calibri"/>
            </a:endParaRPr>
          </a:p>
        </p:txBody>
      </p:sp>
      <p:sp>
        <p:nvSpPr>
          <p:cNvPr id="48" name="Google Shape;48;p4"/>
          <p:cNvSpPr/>
          <p:nvPr/>
        </p:nvSpPr>
        <p:spPr>
          <a:xfrm>
            <a:off x="1645920" y="1883664"/>
            <a:ext cx="3945636"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900"/>
              <a:buFont typeface="Century Schoolbook"/>
              <a:buNone/>
            </a:pPr>
            <a:r>
              <a:rPr b="1" i="0" lang="en-US" sz="1900" u="none" cap="none" strike="noStrike">
                <a:solidFill>
                  <a:srgbClr val="EAF1F8"/>
                </a:solidFill>
                <a:latin typeface="Century Schoolbook"/>
                <a:ea typeface="Century Schoolbook"/>
                <a:cs typeface="Century Schoolbook"/>
                <a:sym typeface="Century Schoolbook"/>
              </a:rPr>
              <a:t>Calibrate the noise</a:t>
            </a:r>
            <a:endParaRPr b="0" i="0" sz="1900" u="none" cap="none" strike="noStrike">
              <a:solidFill>
                <a:schemeClr val="dk1"/>
              </a:solidFill>
              <a:latin typeface="Calibri"/>
              <a:ea typeface="Calibri"/>
              <a:cs typeface="Calibri"/>
              <a:sym typeface="Calibri"/>
            </a:endParaRPr>
          </a:p>
        </p:txBody>
      </p:sp>
      <p:sp>
        <p:nvSpPr>
          <p:cNvPr id="49" name="Google Shape;49;p4"/>
          <p:cNvSpPr/>
          <p:nvPr/>
        </p:nvSpPr>
        <p:spPr>
          <a:xfrm>
            <a:off x="877824" y="2651760"/>
            <a:ext cx="4658868"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400"/>
              <a:buFont typeface="Calibri"/>
              <a:buNone/>
            </a:pPr>
            <a:r>
              <a:rPr b="0" i="0" lang="en-US" sz="1400" u="none" cap="none" strike="noStrike">
                <a:solidFill>
                  <a:srgbClr val="9BB1C7"/>
                </a:solidFill>
                <a:latin typeface="Calibri"/>
                <a:ea typeface="Calibri"/>
                <a:cs typeface="Calibri"/>
                <a:sym typeface="Calibri"/>
              </a:rPr>
              <a:t>Per-voxel noise (σ) is estimated on a pre-cell basis — independent of cell content — giving a trustworthy baseline that turns the residual into a signal-to-noise ratio.</a:t>
            </a:r>
            <a:endParaRPr b="0" i="0" sz="1400" u="none" cap="none" strike="noStrike">
              <a:solidFill>
                <a:schemeClr val="dk1"/>
              </a:solidFill>
              <a:latin typeface="Calibri"/>
              <a:ea typeface="Calibri"/>
              <a:cs typeface="Calibri"/>
              <a:sym typeface="Calibri"/>
            </a:endParaRPr>
          </a:p>
        </p:txBody>
      </p:sp>
      <p:sp>
        <p:nvSpPr>
          <p:cNvPr id="50" name="Google Shape;50;p4"/>
          <p:cNvSpPr/>
          <p:nvPr/>
        </p:nvSpPr>
        <p:spPr>
          <a:xfrm>
            <a:off x="6323076" y="1572768"/>
            <a:ext cx="5317236" cy="1965960"/>
          </a:xfrm>
          <a:prstGeom prst="roundRect">
            <a:avLst>
              <a:gd fmla="val 4186"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6633972" y="1883664"/>
            <a:ext cx="603504" cy="603504"/>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6633972" y="1883664"/>
            <a:ext cx="603504"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2</a:t>
            </a:r>
            <a:endParaRPr b="0" i="0" sz="1500" u="none" cap="none" strike="noStrike">
              <a:solidFill>
                <a:schemeClr val="dk1"/>
              </a:solidFill>
              <a:latin typeface="Calibri"/>
              <a:ea typeface="Calibri"/>
              <a:cs typeface="Calibri"/>
              <a:sym typeface="Calibri"/>
            </a:endParaRPr>
          </a:p>
        </p:txBody>
      </p:sp>
      <p:sp>
        <p:nvSpPr>
          <p:cNvPr id="53" name="Google Shape;53;p4"/>
          <p:cNvSpPr/>
          <p:nvPr/>
        </p:nvSpPr>
        <p:spPr>
          <a:xfrm>
            <a:off x="7420356" y="1883664"/>
            <a:ext cx="3945636"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900"/>
              <a:buFont typeface="Century Schoolbook"/>
              <a:buNone/>
            </a:pPr>
            <a:r>
              <a:rPr b="1" i="0" lang="en-US" sz="1900" u="none" cap="none" strike="noStrike">
                <a:solidFill>
                  <a:srgbClr val="EAF1F8"/>
                </a:solidFill>
                <a:latin typeface="Century Schoolbook"/>
                <a:ea typeface="Century Schoolbook"/>
                <a:cs typeface="Century Schoolbook"/>
                <a:sym typeface="Century Schoolbook"/>
              </a:rPr>
              <a:t>Threshold on SNR</a:t>
            </a:r>
            <a:endParaRPr b="0" i="0" sz="1900" u="none" cap="none" strike="noStrike">
              <a:solidFill>
                <a:schemeClr val="dk1"/>
              </a:solidFill>
              <a:latin typeface="Calibri"/>
              <a:ea typeface="Calibri"/>
              <a:cs typeface="Calibri"/>
              <a:sym typeface="Calibri"/>
            </a:endParaRPr>
          </a:p>
        </p:txBody>
      </p:sp>
      <p:sp>
        <p:nvSpPr>
          <p:cNvPr id="54" name="Google Shape;54;p4"/>
          <p:cNvSpPr/>
          <p:nvPr/>
        </p:nvSpPr>
        <p:spPr>
          <a:xfrm>
            <a:off x="6652260" y="2651760"/>
            <a:ext cx="4658868"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400"/>
              <a:buFont typeface="Calibri"/>
              <a:buNone/>
            </a:pPr>
            <a:r>
              <a:rPr b="0" i="0" lang="en-US" sz="1400" u="none" cap="none" strike="noStrike">
                <a:solidFill>
                  <a:srgbClr val="9BB1C7"/>
                </a:solidFill>
                <a:latin typeface="Calibri"/>
                <a:ea typeface="Calibri"/>
                <a:cs typeface="Calibri"/>
                <a:sym typeface="Calibri"/>
              </a:rPr>
              <a:t>Flag a strict high-confidence core where the SNR is unambiguous, plus a more generous surrounding skirt of plausible signal.</a:t>
            </a:r>
            <a:endParaRPr b="0" i="0" sz="1400" u="none" cap="none" strike="noStrike">
              <a:solidFill>
                <a:schemeClr val="dk1"/>
              </a:solidFill>
              <a:latin typeface="Calibri"/>
              <a:ea typeface="Calibri"/>
              <a:cs typeface="Calibri"/>
              <a:sym typeface="Calibri"/>
            </a:endParaRPr>
          </a:p>
        </p:txBody>
      </p:sp>
      <p:sp>
        <p:nvSpPr>
          <p:cNvPr id="55" name="Google Shape;55;p4"/>
          <p:cNvSpPr/>
          <p:nvPr/>
        </p:nvSpPr>
        <p:spPr>
          <a:xfrm>
            <a:off x="548640" y="3950208"/>
            <a:ext cx="5317236" cy="1965960"/>
          </a:xfrm>
          <a:prstGeom prst="roundRect">
            <a:avLst>
              <a:gd fmla="val 4186"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a:off x="859536" y="4261104"/>
            <a:ext cx="603504" cy="603504"/>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859536" y="4261104"/>
            <a:ext cx="603504"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3</a:t>
            </a:r>
            <a:endParaRPr b="0" i="0" sz="1500" u="none" cap="none" strike="noStrike">
              <a:solidFill>
                <a:schemeClr val="dk1"/>
              </a:solidFill>
              <a:latin typeface="Calibri"/>
              <a:ea typeface="Calibri"/>
              <a:cs typeface="Calibri"/>
              <a:sym typeface="Calibri"/>
            </a:endParaRPr>
          </a:p>
        </p:txBody>
      </p:sp>
      <p:sp>
        <p:nvSpPr>
          <p:cNvPr id="58" name="Google Shape;58;p4"/>
          <p:cNvSpPr/>
          <p:nvPr/>
        </p:nvSpPr>
        <p:spPr>
          <a:xfrm>
            <a:off x="1645920" y="4261104"/>
            <a:ext cx="3945636"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900"/>
              <a:buFont typeface="Century Schoolbook"/>
              <a:buNone/>
            </a:pPr>
            <a:r>
              <a:rPr b="1" i="0" lang="en-US" sz="1900" u="none" cap="none" strike="noStrike">
                <a:solidFill>
                  <a:srgbClr val="EAF1F8"/>
                </a:solidFill>
                <a:latin typeface="Century Schoolbook"/>
                <a:ea typeface="Century Schoolbook"/>
                <a:cs typeface="Century Schoolbook"/>
                <a:sym typeface="Century Schoolbook"/>
              </a:rPr>
              <a:t>Grow the blob</a:t>
            </a:r>
            <a:endParaRPr b="0" i="0" sz="1900" u="none" cap="none" strike="noStrike">
              <a:solidFill>
                <a:schemeClr val="dk1"/>
              </a:solidFill>
              <a:latin typeface="Calibri"/>
              <a:ea typeface="Calibri"/>
              <a:cs typeface="Calibri"/>
              <a:sym typeface="Calibri"/>
            </a:endParaRPr>
          </a:p>
        </p:txBody>
      </p:sp>
      <p:sp>
        <p:nvSpPr>
          <p:cNvPr id="59" name="Google Shape;59;p4"/>
          <p:cNvSpPr/>
          <p:nvPr/>
        </p:nvSpPr>
        <p:spPr>
          <a:xfrm>
            <a:off x="877824" y="5029200"/>
            <a:ext cx="4658868"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400"/>
              <a:buFont typeface="Calibri"/>
              <a:buNone/>
            </a:pPr>
            <a:r>
              <a:rPr b="0" i="0" lang="en-US" sz="1400" u="none" cap="none" strike="noStrike">
                <a:solidFill>
                  <a:srgbClr val="9BB1C7"/>
                </a:solidFill>
                <a:latin typeface="Calibri"/>
                <a:ea typeface="Calibri"/>
                <a:cs typeface="Calibri"/>
                <a:sym typeface="Calibri"/>
              </a:rPr>
              <a:t>Grow each confident core outward into its connected skirt, so the full extent of the particle is captured — not just its brightest center.</a:t>
            </a:r>
            <a:endParaRPr b="0" i="0" sz="1400" u="none" cap="none" strike="noStrike">
              <a:solidFill>
                <a:schemeClr val="dk1"/>
              </a:solidFill>
              <a:latin typeface="Calibri"/>
              <a:ea typeface="Calibri"/>
              <a:cs typeface="Calibri"/>
              <a:sym typeface="Calibri"/>
            </a:endParaRPr>
          </a:p>
        </p:txBody>
      </p:sp>
      <p:sp>
        <p:nvSpPr>
          <p:cNvPr id="60" name="Google Shape;60;p4"/>
          <p:cNvSpPr/>
          <p:nvPr/>
        </p:nvSpPr>
        <p:spPr>
          <a:xfrm>
            <a:off x="6323076" y="3950208"/>
            <a:ext cx="5317236" cy="1965960"/>
          </a:xfrm>
          <a:prstGeom prst="roundRect">
            <a:avLst>
              <a:gd fmla="val 4186" name="adj"/>
            </a:avLst>
          </a:prstGeom>
          <a:solidFill>
            <a:srgbClr val="13273F"/>
          </a:solidFill>
          <a:ln cap="flat" cmpd="sng" w="12700">
            <a:solidFill>
              <a:srgbClr val="17324F"/>
            </a:solidFill>
            <a:prstDash val="solid"/>
            <a:round/>
            <a:headEnd len="sm" w="sm" type="none"/>
            <a:tailEnd len="sm" w="sm" type="none"/>
          </a:ln>
          <a:effectLst>
            <a:outerShdw blurRad="101600" rotWithShape="0" algn="bl" dir="5400000" dist="38100">
              <a:srgbClr val="000000">
                <a:alpha val="3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6633972" y="4261104"/>
            <a:ext cx="603504" cy="603504"/>
          </a:xfrm>
          <a:prstGeom prst="ellipse">
            <a:avLst/>
          </a:prstGeom>
          <a:solidFill>
            <a:srgbClr val="17324F"/>
          </a:solidFill>
          <a:ln cap="flat" cmpd="sng" w="19050">
            <a:solidFill>
              <a:srgbClr val="35D6C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a:off x="6633972" y="4261104"/>
            <a:ext cx="603504" cy="6035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4</a:t>
            </a:r>
            <a:endParaRPr b="0" i="0" sz="1500" u="none" cap="none" strike="noStrike">
              <a:solidFill>
                <a:schemeClr val="dk1"/>
              </a:solidFill>
              <a:latin typeface="Calibri"/>
              <a:ea typeface="Calibri"/>
              <a:cs typeface="Calibri"/>
              <a:sym typeface="Calibri"/>
            </a:endParaRPr>
          </a:p>
        </p:txBody>
      </p:sp>
      <p:sp>
        <p:nvSpPr>
          <p:cNvPr id="63" name="Google Shape;63;p4"/>
          <p:cNvSpPr/>
          <p:nvPr/>
        </p:nvSpPr>
        <p:spPr>
          <a:xfrm>
            <a:off x="7420356" y="4261104"/>
            <a:ext cx="3945636" cy="6035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1900"/>
              <a:buFont typeface="Century Schoolbook"/>
              <a:buNone/>
            </a:pPr>
            <a:r>
              <a:rPr b="1" i="0" lang="en-US" sz="1900" u="none" cap="none" strike="noStrike">
                <a:solidFill>
                  <a:srgbClr val="EAF1F8"/>
                </a:solidFill>
                <a:latin typeface="Century Schoolbook"/>
                <a:ea typeface="Century Schoolbook"/>
                <a:cs typeface="Century Schoolbook"/>
                <a:sym typeface="Century Schoolbook"/>
              </a:rPr>
              <a:t>Extract features</a:t>
            </a:r>
            <a:endParaRPr b="0" i="0" sz="1900" u="none" cap="none" strike="noStrike">
              <a:solidFill>
                <a:schemeClr val="dk1"/>
              </a:solidFill>
              <a:latin typeface="Calibri"/>
              <a:ea typeface="Calibri"/>
              <a:cs typeface="Calibri"/>
              <a:sym typeface="Calibri"/>
            </a:endParaRPr>
          </a:p>
        </p:txBody>
      </p:sp>
      <p:sp>
        <p:nvSpPr>
          <p:cNvPr id="64" name="Google Shape;64;p4"/>
          <p:cNvSpPr/>
          <p:nvPr/>
        </p:nvSpPr>
        <p:spPr>
          <a:xfrm>
            <a:off x="6652260" y="5029200"/>
            <a:ext cx="4658868" cy="77724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9BB1C7"/>
              </a:buClr>
              <a:buSzPts val="1400"/>
              <a:buFont typeface="Calibri"/>
              <a:buNone/>
            </a:pPr>
            <a:r>
              <a:rPr b="0" i="0" lang="en-US" sz="1400" u="none" cap="none" strike="noStrike">
                <a:solidFill>
                  <a:srgbClr val="9BB1C7"/>
                </a:solidFill>
                <a:latin typeface="Calibri"/>
                <a:ea typeface="Calibri"/>
                <a:cs typeface="Calibri"/>
                <a:sym typeface="Calibri"/>
              </a:rPr>
              <a:t>Measure each grown particle — size, shape, intensity and related descriptors — producing the feature set used to score and classify candidates downstream.</a:t>
            </a:r>
            <a:endParaRPr b="0" i="0" sz="1400" u="none" cap="none" strike="noStrike">
              <a:solidFill>
                <a:schemeClr val="dk1"/>
              </a:solidFill>
              <a:latin typeface="Calibri"/>
              <a:ea typeface="Calibri"/>
              <a:cs typeface="Calibri"/>
              <a:sym typeface="Calibri"/>
            </a:endParaRPr>
          </a:p>
        </p:txBody>
      </p:sp>
      <p:sp>
        <p:nvSpPr>
          <p:cNvPr id="65" name="Google Shape;65;p4"/>
          <p:cNvSpPr/>
          <p:nvPr/>
        </p:nvSpPr>
        <p:spPr>
          <a:xfrm>
            <a:off x="548640" y="6099048"/>
            <a:ext cx="1109167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2B441"/>
              </a:buClr>
              <a:buSzPts val="1500"/>
              <a:buFont typeface="Calibri"/>
              <a:buNone/>
            </a:pPr>
            <a:r>
              <a:rPr b="1" i="0" lang="en-US" sz="1500" u="none" cap="none" strike="noStrike">
                <a:solidFill>
                  <a:srgbClr val="F2B441"/>
                </a:solidFill>
                <a:latin typeface="Calibri"/>
                <a:ea typeface="Calibri"/>
                <a:cs typeface="Calibri"/>
                <a:sym typeface="Calibri"/>
              </a:rPr>
              <a:t>Governing principle:   </a:t>
            </a:r>
            <a:r>
              <a:rPr b="0" i="1" lang="en-US" sz="1700" u="none" cap="none" strike="noStrike">
                <a:solidFill>
                  <a:srgbClr val="EAF1F8"/>
                </a:solidFill>
                <a:latin typeface="Calibri"/>
                <a:ea typeface="Calibri"/>
                <a:cs typeface="Calibri"/>
                <a:sym typeface="Calibri"/>
              </a:rPr>
              <a:t>detect strict, measure generous</a:t>
            </a:r>
            <a:r>
              <a:rPr b="0" i="0" lang="en-US" sz="1300" u="none" cap="none" strike="noStrike">
                <a:solidFill>
                  <a:srgbClr val="6E869E"/>
                </a:solidFill>
                <a:latin typeface="Calibri"/>
                <a:ea typeface="Calibri"/>
                <a:cs typeface="Calibri"/>
                <a:sym typeface="Calibri"/>
              </a:rPr>
              <a:t>   — decisions rest on the confident core; measurement uses the full grown particle.</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626"/>
        </a:solidFill>
      </p:bgPr>
    </p:bg>
    <p:spTree>
      <p:nvGrpSpPr>
        <p:cNvPr id="70" name="Shape 70"/>
        <p:cNvGrpSpPr/>
        <p:nvPr/>
      </p:nvGrpSpPr>
      <p:grpSpPr>
        <a:xfrm>
          <a:off x="0" y="0"/>
          <a:ext cx="0" cy="0"/>
          <a:chOff x="0" y="0"/>
          <a:chExt cx="0" cy="0"/>
        </a:xfrm>
      </p:grpSpPr>
      <p:sp>
        <p:nvSpPr>
          <p:cNvPr id="71" name="Google Shape;71;p5"/>
          <p:cNvSpPr/>
          <p:nvPr/>
        </p:nvSpPr>
        <p:spPr>
          <a:xfrm>
            <a:off x="548640" y="384048"/>
            <a:ext cx="1109167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3200"/>
              <a:buFont typeface="Century Schoolbook"/>
              <a:buNone/>
            </a:pPr>
            <a:r>
              <a:rPr b="1" i="0" lang="en-US" sz="3200" u="none" cap="none" strike="noStrike">
                <a:solidFill>
                  <a:srgbClr val="EAF1F8"/>
                </a:solidFill>
                <a:latin typeface="Century Schoolbook"/>
                <a:ea typeface="Century Schoolbook"/>
                <a:cs typeface="Century Schoolbook"/>
                <a:sym typeface="Century Schoolbook"/>
              </a:rPr>
              <a:t>How the Residual Isolates Particles</a:t>
            </a:r>
            <a:endParaRPr b="0" i="0" sz="3200" u="none" cap="none" strike="noStrike">
              <a:solidFill>
                <a:schemeClr val="dk1"/>
              </a:solidFill>
              <a:latin typeface="Calibri"/>
              <a:ea typeface="Calibri"/>
              <a:cs typeface="Calibri"/>
              <a:sym typeface="Calibri"/>
            </a:endParaRPr>
          </a:p>
        </p:txBody>
      </p:sp>
      <p:sp>
        <p:nvSpPr>
          <p:cNvPr id="72" name="Google Shape;72;p5"/>
          <p:cNvSpPr/>
          <p:nvPr/>
        </p:nvSpPr>
        <p:spPr>
          <a:xfrm>
            <a:off x="548640" y="932688"/>
            <a:ext cx="110916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alibri"/>
              <a:buNone/>
            </a:pPr>
            <a:r>
              <a:rPr b="0" i="0" lang="en-US" sz="1500" u="none" cap="none" strike="noStrike">
                <a:solidFill>
                  <a:srgbClr val="35D6C2"/>
                </a:solidFill>
                <a:latin typeface="Calibri"/>
                <a:ea typeface="Calibri"/>
                <a:cs typeface="Calibri"/>
                <a:sym typeface="Calibri"/>
              </a:rPr>
              <a:t>Subtract the expected structure — anomalies remain as clean peaks</a:t>
            </a:r>
            <a:endParaRPr b="0" i="0" sz="1500" u="none" cap="none" strike="noStrike">
              <a:solidFill>
                <a:schemeClr val="dk1"/>
              </a:solidFill>
              <a:latin typeface="Calibri"/>
              <a:ea typeface="Calibri"/>
              <a:cs typeface="Calibri"/>
              <a:sym typeface="Calibri"/>
            </a:endParaRPr>
          </a:p>
        </p:txBody>
      </p:sp>
      <p:pic>
        <p:nvPicPr>
          <p:cNvPr descr="residual_fig.png" id="73" name="Google Shape;73;p5"/>
          <p:cNvPicPr preferRelativeResize="0"/>
          <p:nvPr/>
        </p:nvPicPr>
        <p:blipFill rotWithShape="1">
          <a:blip r:embed="rId3">
            <a:alphaModFix/>
          </a:blip>
          <a:srcRect b="0" l="0" r="0" t="0"/>
          <a:stretch/>
        </p:blipFill>
        <p:spPr>
          <a:xfrm>
            <a:off x="1079624" y="1417320"/>
            <a:ext cx="10029704" cy="4846320"/>
          </a:xfrm>
          <a:prstGeom prst="rect">
            <a:avLst/>
          </a:prstGeom>
          <a:noFill/>
          <a:ln>
            <a:noFill/>
          </a:ln>
        </p:spPr>
      </p:pic>
      <p:sp>
        <p:nvSpPr>
          <p:cNvPr id="74" name="Google Shape;74;p5"/>
          <p:cNvSpPr/>
          <p:nvPr/>
        </p:nvSpPr>
        <p:spPr>
          <a:xfrm>
            <a:off x="548640" y="6391656"/>
            <a:ext cx="11091672"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869E"/>
              </a:buClr>
              <a:buSzPts val="1150"/>
              <a:buFont typeface="Calibri"/>
              <a:buNone/>
            </a:pPr>
            <a:r>
              <a:rPr b="0" i="1" lang="en-US" sz="1150" u="none" cap="none" strike="noStrike">
                <a:solidFill>
                  <a:srgbClr val="6E869E"/>
                </a:solidFill>
                <a:latin typeface="Calibri"/>
                <a:ea typeface="Calibri"/>
                <a:cs typeface="Calibri"/>
                <a:sym typeface="Calibri"/>
              </a:rPr>
              <a:t>Illustrative schematic — a synthetic winding cross-section, not measured data.</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626"/>
        </a:solidFill>
      </p:bgPr>
    </p:bg>
    <p:spTree>
      <p:nvGrpSpPr>
        <p:cNvPr id="79" name="Shape 79"/>
        <p:cNvGrpSpPr/>
        <p:nvPr/>
      </p:nvGrpSpPr>
      <p:grpSpPr>
        <a:xfrm>
          <a:off x="0" y="0"/>
          <a:ext cx="0" cy="0"/>
          <a:chOff x="0" y="0"/>
          <a:chExt cx="0" cy="0"/>
        </a:xfrm>
      </p:grpSpPr>
      <p:sp>
        <p:nvSpPr>
          <p:cNvPr id="80" name="Google Shape;80;p6"/>
          <p:cNvSpPr/>
          <p:nvPr/>
        </p:nvSpPr>
        <p:spPr>
          <a:xfrm>
            <a:off x="548640" y="384048"/>
            <a:ext cx="1109167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AF1F8"/>
              </a:buClr>
              <a:buSzPts val="3200"/>
              <a:buFont typeface="Century Schoolbook"/>
              <a:buNone/>
            </a:pPr>
            <a:r>
              <a:rPr b="1" i="0" lang="en-US" sz="3200" u="none" cap="none" strike="noStrike">
                <a:solidFill>
                  <a:srgbClr val="EAF1F8"/>
                </a:solidFill>
                <a:latin typeface="Century Schoolbook"/>
                <a:ea typeface="Century Schoolbook"/>
                <a:cs typeface="Century Schoolbook"/>
                <a:sym typeface="Century Schoolbook"/>
              </a:rPr>
              <a:t>The Same Process on a Real Slice</a:t>
            </a:r>
            <a:endParaRPr b="0" i="0" sz="3200" u="none" cap="none" strike="noStrike">
              <a:solidFill>
                <a:schemeClr val="dk1"/>
              </a:solidFill>
              <a:latin typeface="Calibri"/>
              <a:ea typeface="Calibri"/>
              <a:cs typeface="Calibri"/>
              <a:sym typeface="Calibri"/>
            </a:endParaRPr>
          </a:p>
        </p:txBody>
      </p:sp>
      <p:sp>
        <p:nvSpPr>
          <p:cNvPr id="81" name="Google Shape;81;p6"/>
          <p:cNvSpPr/>
          <p:nvPr/>
        </p:nvSpPr>
        <p:spPr>
          <a:xfrm>
            <a:off x="548640" y="932688"/>
            <a:ext cx="1109167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alibri"/>
              <a:buNone/>
            </a:pPr>
            <a:r>
              <a:rPr b="0" i="0" lang="en-US" sz="1500" u="none" cap="none" strike="noStrike">
                <a:solidFill>
                  <a:srgbClr val="35D6C2"/>
                </a:solidFill>
                <a:latin typeface="Calibri"/>
                <a:ea typeface="Calibri"/>
                <a:cs typeface="Calibri"/>
                <a:sym typeface="Calibri"/>
              </a:rPr>
              <a:t>A genuine particle — hidden in the raw data, isolated in the residual</a:t>
            </a:r>
            <a:endParaRPr b="0" i="0" sz="1500" u="none" cap="none" strike="noStrike">
              <a:solidFill>
                <a:schemeClr val="dk1"/>
              </a:solidFill>
              <a:latin typeface="Calibri"/>
              <a:ea typeface="Calibri"/>
              <a:cs typeface="Calibri"/>
              <a:sym typeface="Calibri"/>
            </a:endParaRPr>
          </a:p>
        </p:txBody>
      </p:sp>
      <p:sp>
        <p:nvSpPr>
          <p:cNvPr id="82" name="Google Shape;82;p6"/>
          <p:cNvSpPr/>
          <p:nvPr/>
        </p:nvSpPr>
        <p:spPr>
          <a:xfrm>
            <a:off x="548640" y="1783080"/>
            <a:ext cx="33924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1   </a:t>
            </a:r>
            <a:r>
              <a:rPr b="1" i="0" lang="en-US" sz="1600" u="none" cap="none" strike="noStrike">
                <a:solidFill>
                  <a:srgbClr val="EAF1F8"/>
                </a:solidFill>
                <a:latin typeface="Century Schoolbook"/>
                <a:ea typeface="Century Schoolbook"/>
                <a:cs typeface="Century Schoolbook"/>
                <a:sym typeface="Century Schoolbook"/>
              </a:rPr>
              <a:t>Original radial slice</a:t>
            </a:r>
            <a:endParaRPr b="0" i="0" sz="1500" u="none" cap="none" strike="noStrike">
              <a:solidFill>
                <a:schemeClr val="dk1"/>
              </a:solidFill>
              <a:latin typeface="Calibri"/>
              <a:ea typeface="Calibri"/>
              <a:cs typeface="Calibri"/>
              <a:sym typeface="Calibri"/>
            </a:endParaRPr>
          </a:p>
        </p:txBody>
      </p:sp>
      <p:pic>
        <p:nvPicPr>
          <p:cNvPr descr="p1.png" id="83" name="Google Shape;83;p6"/>
          <p:cNvPicPr preferRelativeResize="0"/>
          <p:nvPr/>
        </p:nvPicPr>
        <p:blipFill rotWithShape="1">
          <a:blip r:embed="rId3">
            <a:alphaModFix/>
          </a:blip>
          <a:srcRect b="0" l="0" r="0" t="0"/>
          <a:stretch/>
        </p:blipFill>
        <p:spPr>
          <a:xfrm>
            <a:off x="548640" y="2331720"/>
            <a:ext cx="3392424" cy="2786844"/>
          </a:xfrm>
          <a:prstGeom prst="rect">
            <a:avLst/>
          </a:prstGeom>
          <a:noFill/>
          <a:ln>
            <a:noFill/>
          </a:ln>
        </p:spPr>
      </p:pic>
      <p:sp>
        <p:nvSpPr>
          <p:cNvPr id="84" name="Google Shape;84;p6"/>
          <p:cNvSpPr/>
          <p:nvPr/>
        </p:nvSpPr>
        <p:spPr>
          <a:xfrm>
            <a:off x="4398264" y="1783080"/>
            <a:ext cx="33924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2   </a:t>
            </a:r>
            <a:r>
              <a:rPr b="1" lang="en-US" sz="1600">
                <a:solidFill>
                  <a:srgbClr val="9BB1C7"/>
                </a:solidFill>
                <a:latin typeface="Century Schoolbook"/>
                <a:ea typeface="Century Schoolbook"/>
                <a:cs typeface="Century Schoolbook"/>
                <a:sym typeface="Century Schoolbook"/>
              </a:rPr>
              <a:t>S</a:t>
            </a:r>
            <a:r>
              <a:rPr b="1" i="0" lang="en-US" sz="1600" u="none" cap="none" strike="noStrike">
                <a:solidFill>
                  <a:srgbClr val="9BB1C7"/>
                </a:solidFill>
                <a:latin typeface="Century Schoolbook"/>
                <a:ea typeface="Century Schoolbook"/>
                <a:cs typeface="Century Schoolbook"/>
                <a:sym typeface="Century Schoolbook"/>
              </a:rPr>
              <a:t>tructur</a:t>
            </a:r>
            <a:r>
              <a:rPr b="1" lang="en-US" sz="1600">
                <a:solidFill>
                  <a:srgbClr val="9BB1C7"/>
                </a:solidFill>
                <a:latin typeface="Century Schoolbook"/>
                <a:ea typeface="Century Schoolbook"/>
                <a:cs typeface="Century Schoolbook"/>
                <a:sym typeface="Century Schoolbook"/>
              </a:rPr>
              <a:t>al model</a:t>
            </a:r>
            <a:endParaRPr b="0" i="0" sz="1500" u="none" cap="none" strike="noStrike">
              <a:solidFill>
                <a:schemeClr val="dk1"/>
              </a:solidFill>
              <a:latin typeface="Calibri"/>
              <a:ea typeface="Calibri"/>
              <a:cs typeface="Calibri"/>
              <a:sym typeface="Calibri"/>
            </a:endParaRPr>
          </a:p>
        </p:txBody>
      </p:sp>
      <p:pic>
        <p:nvPicPr>
          <p:cNvPr descr="p2.png" id="85" name="Google Shape;85;p6"/>
          <p:cNvPicPr preferRelativeResize="0"/>
          <p:nvPr/>
        </p:nvPicPr>
        <p:blipFill rotWithShape="1">
          <a:blip r:embed="rId4">
            <a:alphaModFix/>
          </a:blip>
          <a:srcRect b="0" l="0" r="0" t="0"/>
          <a:stretch/>
        </p:blipFill>
        <p:spPr>
          <a:xfrm>
            <a:off x="4398264" y="2331720"/>
            <a:ext cx="3392424" cy="2786844"/>
          </a:xfrm>
          <a:prstGeom prst="rect">
            <a:avLst/>
          </a:prstGeom>
          <a:noFill/>
          <a:ln>
            <a:noFill/>
          </a:ln>
        </p:spPr>
      </p:pic>
      <p:sp>
        <p:nvSpPr>
          <p:cNvPr id="86" name="Google Shape;86;p6"/>
          <p:cNvSpPr/>
          <p:nvPr/>
        </p:nvSpPr>
        <p:spPr>
          <a:xfrm>
            <a:off x="8247888" y="1783080"/>
            <a:ext cx="3392424"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5D6C2"/>
              </a:buClr>
              <a:buSzPts val="1500"/>
              <a:buFont typeface="Century Schoolbook"/>
              <a:buNone/>
            </a:pPr>
            <a:r>
              <a:rPr b="1" i="0" lang="en-US" sz="1500" u="none" cap="none" strike="noStrike">
                <a:solidFill>
                  <a:srgbClr val="35D6C2"/>
                </a:solidFill>
                <a:latin typeface="Century Schoolbook"/>
                <a:ea typeface="Century Schoolbook"/>
                <a:cs typeface="Century Schoolbook"/>
                <a:sym typeface="Century Schoolbook"/>
              </a:rPr>
              <a:t>3   </a:t>
            </a:r>
            <a:r>
              <a:rPr b="1" i="0" lang="en-US" sz="1600" u="none" cap="none" strike="noStrike">
                <a:solidFill>
                  <a:srgbClr val="35D6C2"/>
                </a:solidFill>
                <a:latin typeface="Century Schoolbook"/>
                <a:ea typeface="Century Schoolbook"/>
                <a:cs typeface="Century Schoolbook"/>
                <a:sym typeface="Century Schoolbook"/>
              </a:rPr>
              <a:t>Residual  =  data − model</a:t>
            </a:r>
            <a:endParaRPr b="0" i="0" sz="1500" u="none" cap="none" strike="noStrike">
              <a:solidFill>
                <a:schemeClr val="dk1"/>
              </a:solidFill>
              <a:latin typeface="Calibri"/>
              <a:ea typeface="Calibri"/>
              <a:cs typeface="Calibri"/>
              <a:sym typeface="Calibri"/>
            </a:endParaRPr>
          </a:p>
        </p:txBody>
      </p:sp>
      <p:pic>
        <p:nvPicPr>
          <p:cNvPr descr="p3_annotated.png" id="87" name="Google Shape;87;p6"/>
          <p:cNvPicPr preferRelativeResize="0"/>
          <p:nvPr/>
        </p:nvPicPr>
        <p:blipFill rotWithShape="1">
          <a:blip r:embed="rId5">
            <a:alphaModFix/>
          </a:blip>
          <a:srcRect b="0" l="0" r="0" t="0"/>
          <a:stretch/>
        </p:blipFill>
        <p:spPr>
          <a:xfrm>
            <a:off x="8247888" y="2331720"/>
            <a:ext cx="3392424" cy="2786844"/>
          </a:xfrm>
          <a:prstGeom prst="rect">
            <a:avLst/>
          </a:prstGeom>
          <a:noFill/>
          <a:ln>
            <a:noFill/>
          </a:ln>
        </p:spPr>
      </p:pic>
      <p:sp>
        <p:nvSpPr>
          <p:cNvPr id="88" name="Google Shape;88;p6"/>
          <p:cNvSpPr/>
          <p:nvPr/>
        </p:nvSpPr>
        <p:spPr>
          <a:xfrm>
            <a:off x="3941064" y="2331720"/>
            <a:ext cx="457200" cy="27868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AF1F8"/>
              </a:buClr>
              <a:buSzPts val="3000"/>
              <a:buFont typeface="Century Schoolbook"/>
              <a:buNone/>
            </a:pPr>
            <a:r>
              <a:rPr b="1" i="0" lang="en-US" sz="3000" u="none" cap="none" strike="noStrike">
                <a:solidFill>
                  <a:srgbClr val="EAF1F8"/>
                </a:solidFill>
                <a:latin typeface="Century Schoolbook"/>
                <a:ea typeface="Century Schoolbook"/>
                <a:cs typeface="Century Schoolbook"/>
                <a:sym typeface="Century Schoolbook"/>
              </a:rPr>
              <a:t>−</a:t>
            </a:r>
            <a:endParaRPr b="0" i="0" sz="3000" u="none" cap="none" strike="noStrike">
              <a:solidFill>
                <a:schemeClr val="dk1"/>
              </a:solidFill>
              <a:latin typeface="Calibri"/>
              <a:ea typeface="Calibri"/>
              <a:cs typeface="Calibri"/>
              <a:sym typeface="Calibri"/>
            </a:endParaRPr>
          </a:p>
        </p:txBody>
      </p:sp>
      <p:sp>
        <p:nvSpPr>
          <p:cNvPr id="89" name="Google Shape;89;p6"/>
          <p:cNvSpPr/>
          <p:nvPr/>
        </p:nvSpPr>
        <p:spPr>
          <a:xfrm>
            <a:off x="7790688" y="2331720"/>
            <a:ext cx="457200" cy="27868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5D6C2"/>
              </a:buClr>
              <a:buSzPts val="3000"/>
              <a:buFont typeface="Century Schoolbook"/>
              <a:buNone/>
            </a:pPr>
            <a:r>
              <a:rPr b="1" i="0" lang="en-US" sz="3000" u="none" cap="none" strike="noStrike">
                <a:solidFill>
                  <a:srgbClr val="35D6C2"/>
                </a:solidFill>
                <a:latin typeface="Century Schoolbook"/>
                <a:ea typeface="Century Schoolbook"/>
                <a:cs typeface="Century Schoolbook"/>
                <a:sym typeface="Century Schoolbook"/>
              </a:rPr>
              <a:t>=</a:t>
            </a:r>
            <a:endParaRPr b="0" i="0" sz="3000" u="none" cap="none" strike="noStrike">
              <a:solidFill>
                <a:schemeClr val="dk1"/>
              </a:solidFill>
              <a:latin typeface="Calibri"/>
              <a:ea typeface="Calibri"/>
              <a:cs typeface="Calibri"/>
              <a:sym typeface="Calibri"/>
            </a:endParaRPr>
          </a:p>
        </p:txBody>
      </p:sp>
      <p:sp>
        <p:nvSpPr>
          <p:cNvPr id="90" name="Google Shape;90;p6"/>
          <p:cNvSpPr/>
          <p:nvPr/>
        </p:nvSpPr>
        <p:spPr>
          <a:xfrm>
            <a:off x="548640" y="5438604"/>
            <a:ext cx="11091672" cy="749808"/>
          </a:xfrm>
          <a:prstGeom prst="roundRect">
            <a:avLst>
              <a:gd fmla="val 9756" name="adj"/>
            </a:avLst>
          </a:prstGeom>
          <a:solidFill>
            <a:srgbClr val="17324F"/>
          </a:solidFill>
          <a:ln cap="flat" cmpd="sng" w="12700">
            <a:solidFill>
              <a:srgbClr val="1E9E9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68680" y="5438604"/>
            <a:ext cx="10451592" cy="74980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35D6C2"/>
              </a:buClr>
              <a:buSzPts val="1500"/>
              <a:buFont typeface="Calibri"/>
              <a:buNone/>
            </a:pPr>
            <a:r>
              <a:rPr b="1" i="0" lang="en-US" sz="1500" u="none" cap="none" strike="noStrike">
                <a:solidFill>
                  <a:srgbClr val="35D6C2"/>
                </a:solidFill>
                <a:latin typeface="Calibri"/>
                <a:ea typeface="Calibri"/>
                <a:cs typeface="Calibri"/>
                <a:sym typeface="Calibri"/>
              </a:rPr>
              <a:t>Circled: </a:t>
            </a:r>
            <a:r>
              <a:rPr b="0" i="0" lang="en-US" sz="1500" u="none" cap="none" strike="noStrike">
                <a:solidFill>
                  <a:srgbClr val="EAF1F8"/>
                </a:solidFill>
                <a:latin typeface="Calibri"/>
                <a:ea typeface="Calibri"/>
                <a:cs typeface="Calibri"/>
                <a:sym typeface="Calibri"/>
              </a:rPr>
              <a:t>a genuine particle — barely distinguishable against the winding structure in the raw slice, but an unmistakable bright point once the model is subtracted.</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